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814e4e84484fdc" /><Relationship Type="http://schemas.openxmlformats.org/officeDocument/2006/relationships/extended-properties" Target="/docProps/app.xml" Id="Rd36832839598444c" /><Relationship Type="http://schemas.openxmlformats.org/officeDocument/2006/relationships/officeDocument" Target="/ppt/presentation.xml" Id="R596b0851f8ff4a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ab7f00ac944e3"/>
  </p:sldMasterIdLst>
  <p:notesMasterIdLst>
    <p:notesMasterId xmlns:r="http://schemas.openxmlformats.org/officeDocument/2006/relationships" r:id="Rf1cb9dd7363f41ea"/>
  </p:notesMasterIdLst>
  <p:sldIdLst>
    <p:sldId xmlns:r="http://schemas.openxmlformats.org/officeDocument/2006/relationships" id="256" r:id="R16057e2ef1c24f5f"/>
    <p:sldId xmlns:r="http://schemas.openxmlformats.org/officeDocument/2006/relationships" id="257" r:id="Rb792ae7effc947e6"/>
    <p:sldId xmlns:r="http://schemas.openxmlformats.org/officeDocument/2006/relationships" id="258" r:id="R27eb565b34ed4b9b"/>
    <p:sldId xmlns:r="http://schemas.openxmlformats.org/officeDocument/2006/relationships" id="259" r:id="R27c3e470e63248c3"/>
    <p:sldId xmlns:r="http://schemas.openxmlformats.org/officeDocument/2006/relationships" id="260" r:id="Rc3c11edf9fa34c7e"/>
    <p:sldId xmlns:r="http://schemas.openxmlformats.org/officeDocument/2006/relationships" id="261" r:id="R26791f505dc747a2"/>
    <p:sldId xmlns:r="http://schemas.openxmlformats.org/officeDocument/2006/relationships" id="262" r:id="Rd4a4ef3763b643c2"/>
    <p:sldId xmlns:r="http://schemas.openxmlformats.org/officeDocument/2006/relationships" id="263" r:id="R92e4aaa36c884a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799e372ef44184" /><Relationship Type="http://schemas.openxmlformats.org/officeDocument/2006/relationships/slideMaster" Target="/ppt/slideMasters/slideMaster1.xml" Id="R809ab7f00ac944e3" /><Relationship Type="http://schemas.openxmlformats.org/officeDocument/2006/relationships/notesMaster" Target="/ppt/notesMasters/notesMaster1.xml" Id="Rf1cb9dd7363f41ea" /><Relationship Type="http://schemas.openxmlformats.org/officeDocument/2006/relationships/presProps" Target="/ppt/presProps.xml" Id="Rb5a285b9ea674d56" /><Relationship Type="http://schemas.openxmlformats.org/officeDocument/2006/relationships/tableStyles" Target="/ppt/tableStyles.xml" Id="Rf5830ad1414349f7" /><Relationship Type="http://schemas.openxmlformats.org/officeDocument/2006/relationships/slide" Target="/ppt/slides/slide1.xml" Id="R16057e2ef1c24f5f" /><Relationship Type="http://schemas.openxmlformats.org/officeDocument/2006/relationships/slide" Target="/ppt/slides/slide2.xml" Id="Rb792ae7effc947e6" /><Relationship Type="http://schemas.openxmlformats.org/officeDocument/2006/relationships/slide" Target="/ppt/slides/slide3.xml" Id="R27eb565b34ed4b9b" /><Relationship Type="http://schemas.openxmlformats.org/officeDocument/2006/relationships/slide" Target="/ppt/slides/slide4.xml" Id="R27c3e470e63248c3" /><Relationship Type="http://schemas.openxmlformats.org/officeDocument/2006/relationships/slide" Target="/ppt/slides/slide5.xml" Id="Rc3c11edf9fa34c7e" /><Relationship Type="http://schemas.openxmlformats.org/officeDocument/2006/relationships/slide" Target="/ppt/slides/slide6.xml" Id="R26791f505dc747a2" /><Relationship Type="http://schemas.openxmlformats.org/officeDocument/2006/relationships/slide" Target="/ppt/slides/slide7.xml" Id="Rd4a4ef3763b643c2" /><Relationship Type="http://schemas.openxmlformats.org/officeDocument/2006/relationships/slide" Target="/ppt/slides/slide8.xml" Id="R92e4aaa36c88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6af587f9d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b77ed1859a47b2" /><Relationship Type="http://schemas.openxmlformats.org/officeDocument/2006/relationships/notesMaster" Target="/ppt/notesMasters/notesMaster1.xml" Id="R5192af65326948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2bf3bbd8ba4667" /><Relationship Type="http://schemas.openxmlformats.org/officeDocument/2006/relationships/notesMaster" Target="/ppt/notesMasters/notesMaster1.xml" Id="R9acb1d47d1554f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52776aa655498d" /><Relationship Type="http://schemas.openxmlformats.org/officeDocument/2006/relationships/notesMaster" Target="/ppt/notesMasters/notesMaster1.xml" Id="R76ebbddefa53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4193b9b3cd462c" /><Relationship Type="http://schemas.openxmlformats.org/officeDocument/2006/relationships/notesMaster" Target="/ppt/notesMasters/notesMaster1.xml" Id="R10e6559ecfde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7d29bfa85044dc" /><Relationship Type="http://schemas.openxmlformats.org/officeDocument/2006/relationships/notesMaster" Target="/ppt/notesMasters/notesMaster1.xml" Id="R2e9c2d95509346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cf25faa05f4123" /><Relationship Type="http://schemas.openxmlformats.org/officeDocument/2006/relationships/notesMaster" Target="/ppt/notesMasters/notesMaster1.xml" Id="Rdc590c7149f047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16a70c995f486c" /><Relationship Type="http://schemas.openxmlformats.org/officeDocument/2006/relationships/notesMaster" Target="/ppt/notesMasters/notesMaster1.xml" Id="R34fe991b634842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5ed1628194295" /><Relationship Type="http://schemas.openxmlformats.org/officeDocument/2006/relationships/notesMaster" Target="/ppt/notesMasters/notesMaster1.xml" Id="Ra94b388954c0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src/web и описание кейса пользователя. Прототип использует демонстрационные данные, не реальную телеметрию ALLUR.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исходное изображение задания; src/domain/reference.cjs DEFAULT; src/simulation/model.hpp.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src/server/main.cjs, analytics.cjs, simulation.cjs, migrations/001_initial.sql. Все модели обучаются локально; запросы требуют сессии и CSRF.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фактический screenshot artifacts/line-overview.png, созданный автоматизированной UI-проверкой.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docs/demo-results.json. C++/JS модель, seed 2026, горизонт 8 часов; значения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src/server/analytics.cjs; tests/analytics.test.js. Monte Carlo 20–200 прогонов. Brier оценивается на последних 20% истории. Улучшение на holdout не доказывает калибровку на реальном заводе.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docs/demo-results.json forecast. Все цены являются допущениями: маржа 50 000 ₸, брак 10 000 ₸, штраф 100 000 ₸, расходы 30 000 ₸/смену, инвестиции 1 000 000 ₸. 50 парных прогонов; 3 оператора против исходного; вариация циклов 10%, поставок ±30 мин, доп.поломка 20%, ремонт 30 мин.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docs/criteria-audit.txt, текущий код. Реальные данные, калибровка и фабричный эффект отсутствуют. Независимые линии не разделяют ресурсы; маршрут каждой линии фиксирован.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a5a170ecc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be841f629343c7" /><Relationship Type="http://schemas.openxmlformats.org/officeDocument/2006/relationships/slideLayout" Target="/ppt/slideLayouts/slideLayout1.xml" Id="R2eebb6204918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bb6204918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976b4e964c8b" /><Relationship Type="http://schemas.openxmlformats.org/officeDocument/2006/relationships/notesSlide" Target="/ppt/notesSlides/notesSlide1.xml" Id="R0bdacee8d6de41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0b63ab496477f" /><Relationship Type="http://schemas.openxmlformats.org/officeDocument/2006/relationships/notesSlide" Target="/ppt/notesSlides/notesSlide2.xml" Id="Rb7c76868810d49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18c03afb844be" /><Relationship Type="http://schemas.openxmlformats.org/officeDocument/2006/relationships/notesSlide" Target="/ppt/notesSlides/notesSlide3.xml" Id="R7f016578886d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fc34c2c4a4527" /><Relationship Type="http://schemas.openxmlformats.org/officeDocument/2006/relationships/image" Target="/ppt/media/image.png" Id="Re58b2e0f44c64f67" /><Relationship Type="http://schemas.openxmlformats.org/officeDocument/2006/relationships/notesSlide" Target="/ppt/notesSlides/notesSlide4.xml" Id="Ra461d877a2a2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31c12f8ea457f" /><Relationship Type="http://schemas.openxmlformats.org/officeDocument/2006/relationships/chart" Target="/ppt/slides/charts/chart1.xml" Id="R54cf60e5fb864b5b" /><Relationship Type="http://schemas.openxmlformats.org/officeDocument/2006/relationships/notesSlide" Target="/ppt/notesSlides/notesSlide5.xml" Id="R68dd604efc0941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a2d2401c543cc" /><Relationship Type="http://schemas.openxmlformats.org/officeDocument/2006/relationships/notesSlide" Target="/ppt/notesSlides/notesSlide6.xml" Id="Rd4cae72eecf6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55483563845cf" /><Relationship Type="http://schemas.openxmlformats.org/officeDocument/2006/relationships/notesSlide" Target="/ppt/notesSlides/notesSlide7.xml" Id="Ra926f25cbbd34a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48105a8ca453e" /><Relationship Type="http://schemas.openxmlformats.org/officeDocument/2006/relationships/notesSlide" Target="/ppt/notesSlides/notesSlide8.xml" Id="Re5cf2b429b5941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Отгружено, шт.</c:v>
          </c:tx>
          <c:spPr>
            <a:solidFill xmlns:a="http://schemas.openxmlformats.org/drawingml/2006/main">
              <a:srgbClr val="FFCC45"/>
            </a:solidFill>
          </c:spPr>
          <c:cat>
            <c:strRef>
              <c:f>'Chart Data'!$A$2:$A$6</c:f>
              <c:strCache>
                <c:ptCount val="5"/>
                <c:pt idx="0">
                  <c:v>Исходный</c:v>
                </c:pt>
                <c:pt idx="1">
                  <c:v>Поставка позже</c:v>
                </c:pt>
                <c:pt idx="2">
                  <c:v>Поломка</c:v>
                </c:pt>
                <c:pt idx="3">
                  <c:v>3 оператора</c:v>
                </c:pt>
                <c:pt idx="4">
                  <c:v>Поставка раньше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28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24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5"/>
        </a:solidFill>
      </c:spPr>
    </c:plotArea>
    <c:plotVisOnly val="1"/>
  </c:chart>
  <c:spPr>
    <a:solidFill xmlns:a="http://schemas.openxmlformats.org/drawingml/2006/main">
      <a:srgbClr val="FAF9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E8A93-B791-4203-A66D-9D157B3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ALLUR check 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736D4-FB36-479C-B56C-5BBB07F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Симуляция производственной линии</a:t>
            </a:r>
          </a:p>
          <a:p xmlns:a="http://schemas.openxmlformats.org/drawingml/2006/main">
            <a:pPr>
              <a:defRPr sz="36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и проверка управленческих сценариев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15556-D754-4572-97AB-4FE28D4D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Демонстрационные данные. Модель не калибрована на ALLUR.</a:t>
            </a:r>
          </a:p>
        </p:txBody>
      </p:sp>
    </p:spTree>
    <p:extLst>
      <p:ext uri="{BB962C8B-B14F-4D97-AF65-F5344CB8AC3E}">
        <p14:creationId xmlns:p14="http://schemas.microsoft.com/office/powerpoint/2010/main" val="1213025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A0DB5-2B61-4FBD-970F-2571B96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Производственные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22964-6070-4EE8-B22C-D0333DC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Оборудование, материалы и люди работают как единый 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D068B-D664-44A9-9DE6-4C26C34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План и сроки заказов • циклы операций • смены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Запасы и поставки • буферы • поломки и ремонт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Контроль качества • переделки • отгрузки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858AD-1F3F-43FD-A4C7-08AFFF6A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MVP: три этапа на линию. До шести независимых линий с выделенными ресурсами.</a:t>
            </a:r>
          </a:p>
        </p:txBody>
      </p:sp>
    </p:spTree>
    <p:extLst>
      <p:ext uri="{BB962C8B-B14F-4D97-AF65-F5344CB8AC3E}">
        <p14:creationId xmlns:p14="http://schemas.microsoft.com/office/powerpoint/2010/main" val="439917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6146A-15D2-4348-94A8-EC1D6D56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Архитектура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3B88B-9873-4951-B4ED-C37DC1B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Браузер ↔ HTTP API: импорт, сценарии, результаты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HTTP API ↔ C++17: симуляция событий и ресурсов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HTTP API ↔ SQLite: аккаунты, сценарии и история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HTTP API → аналитика: диагностика, прогноз и эффект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HTTP API → ML: обучение и проверка на истории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203A9-852F-4A18-A903-F216A0EB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ML: логистическая модель; обучение на ранних данных, проверка на поздних.</a:t>
            </a:r>
          </a:p>
        </p:txBody>
      </p:sp>
    </p:spTree>
    <p:extLst>
      <p:ext uri="{BB962C8B-B14F-4D97-AF65-F5344CB8AC3E}">
        <p14:creationId xmlns:p14="http://schemas.microsoft.com/office/powerpoint/2010/main" val="116951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4A157-8FB4-427E-8C67-0FCF53FF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Интерактивный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270A1-F179-4CB9-9F43-BE752285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81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План и сценарии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Линия и ресурсы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Прогноз и эффект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История и экспорт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RU / KK / EN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b2e0f44c64f67"/>
          <a:stretch xmlns:a="http://schemas.openxmlformats.org/drawingml/2006/main"/>
        </p:blipFill>
        <p:spPr>
          <a:xfrm xmlns:a="http://schemas.openxmlformats.org/drawingml/2006/main">
            <a:off x="4476750" y="1524000"/>
            <a:ext cx="6858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1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398C1-FAD1-4FD1-B896-8F40D036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Сравнение сценариев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52500" y="1619250"/>
          <a:ext xmlns:a="http://schemas.openxmlformats.org/drawingml/2006/main" cx="10287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cf60e5fb864b5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1B2C6-036D-4188-B5FF-CC87034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Первый заказ: исходный — 05:00; 3 оператора — 04:00; ранняя поставка — 03:00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8E2C8-59D7-4B79-9AC6-E97A546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64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645C"/>
                </a:solidFill>
                <a:latin typeface="Arial"/>
                <a:ea typeface="Arial"/>
                <a:cs typeface="Arial"/>
              </a:rPr>
              <a:t>Модельные результаты. Производственный эффект на ALLUR не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744317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4CBE2-472E-4AB1-9EF9-1902B1B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Прогноз и машинное обучение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037A3-E428-4E6A-BAB1-C38217AB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Monte Carlo: диапазоны выпуска, ремонт и риск опоздания</a:t>
            </a:r>
          </a:p>
          <a:p xmlns:a="http://schemas.openxmlformats.org/drawingml/2006/main">
            <a:pPr>
              <a:defRPr sz="225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Допущения: разброс циклов, поставок и вероятность поломки</a:t>
            </a:r>
          </a:p>
          <a:p xmlns:a="http://schemas.openxmlformats.org/drawingml/2006/main">
            <a:pPr>
              <a:defRPr sz="225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Диагностика: эффект ускорения каждого этапа на 10%</a:t>
            </a:r>
          </a:p>
          <a:p xmlns:a="http://schemas.openxmlformats.org/drawingml/2006/main">
            <a:pPr>
              <a:defRPr sz="225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ML: вероятность опоздания или поломки по CSV истории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601B1-3711-4C69-AD17-24624DE2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Проверка ML на более поздних сменах: Brier против базового прогноза.</a:t>
            </a:r>
          </a:p>
          <a:p xmlns:a="http://schemas.openxmlformats.org/drawingml/2006/main">
            <a:pPr>
              <a:defRPr sz="1875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Если модель не улучшает базовый прогноз, интерфейс сообщает об этом.</a:t>
            </a:r>
          </a:p>
        </p:txBody>
      </p:sp>
    </p:spTree>
    <p:extLst>
      <p:ext uri="{BB962C8B-B14F-4D97-AF65-F5344CB8AC3E}">
        <p14:creationId xmlns:p14="http://schemas.microsoft.com/office/powerpoint/2010/main" val="1941251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B33F-D801-402C-8E3D-F20F74FD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Оценка бизнес-эффекта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54CA3-F812-4BF8-A9E1-EF53A861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Дополнительная маржа + снижение брака и штрафов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− дополнительные расходы за смену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BD8A1-379B-4E1F-8A2B-1C1C16D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Пример: третий оператор, 50 прогонов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889E3-9A10-43B7-8121-867607DF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76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CC45"/>
                </a:solidFill>
                <a:latin typeface="Arial"/>
                <a:ea typeface="Arial"/>
                <a:cs typeface="Arial"/>
              </a:rPr>
              <a:t>Средний эффект: -18 000 ₸ за смену</a:t>
            </a:r>
          </a:p>
          <a:p xmlns:a="http://schemas.openxmlformats.org/drawingml/2006/main">
            <a:pPr>
              <a:defRPr sz="2250" b="0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CC45"/>
                </a:solidFill>
                <a:latin typeface="Arial"/>
                <a:ea typeface="Arial"/>
                <a:cs typeface="Arial"/>
              </a:rPr>
              <a:t>P05 / P95: -30 000 / 70 000 ₸</a:t>
            </a:r>
          </a:p>
          <a:p xmlns:a="http://schemas.openxmlformats.org/drawingml/2006/main">
            <a:pPr>
              <a:defRPr sz="2250" b="0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CC45"/>
                </a:solidFill>
                <a:latin typeface="Arial"/>
                <a:ea typeface="Arial"/>
                <a:cs typeface="Arial"/>
              </a:rPr>
              <a:t>Окупаемость не определена: средний эффект отрицательный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49385-5178-4271-B860-5DAD3C88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Цены и распределения заданы для примера. Это не расчёт фактической экономии ALLUR.</a:t>
            </a:r>
          </a:p>
        </p:txBody>
      </p:sp>
    </p:spTree>
    <p:extLst>
      <p:ext uri="{BB962C8B-B14F-4D97-AF65-F5344CB8AC3E}">
        <p14:creationId xmlns:p14="http://schemas.microsoft.com/office/powerpoint/2010/main" val="1821815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BC086-A3F0-40BB-8F19-0CF9F17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C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CC45"/>
                </a:solidFill>
                <a:latin typeface="Arial"/>
                <a:ea typeface="Arial"/>
                <a:cs typeface="Arial"/>
              </a:rPr>
              <a:t>Пилот и проверка на предприятии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45C92-4C45-476D-8E51-6847F4DE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1. Импорт разрешённых планов, событий и показателей качества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2. Калибровка циклов, поставок, поломок и модели риска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3. Проверка прогноза на следующих фактических сменах</a:t>
            </a:r>
          </a:p>
          <a:p xmlns:a="http://schemas.openxmlformats.org/drawingml/2006/main">
            <a:pPr>
              <a:defRPr sz="2400" b="0">
                <a:solidFill>
                  <a:srgbClr val="F7F5E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5EE"/>
                </a:solidFill>
                <a:latin typeface="Arial"/>
                <a:ea typeface="Arial"/>
                <a:cs typeface="Arial"/>
              </a:rPr>
              <a:t>4. Сравнение решений и затрат с исходным процессом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EC366-3ADA-444A-B226-B6B9B12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Реализованы: визуализация, сценарии, аналитика, прогноз, ML и расчёт эффекта.</a:t>
            </a:r>
          </a:p>
          <a:p xmlns:a="http://schemas.openxmlformats.org/drawingml/2006/main">
            <a:pPr>
              <a:defRPr sz="1950" b="0">
                <a:solidFill>
                  <a:srgbClr val="BDBBB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BB5"/>
                </a:solidFill>
                <a:latin typeface="Arial"/>
                <a:ea typeface="Arial"/>
                <a:cs typeface="Arial"/>
              </a:rPr>
              <a:t>Не подтверждены: точность на ALLUR и экономия на реальном производстве.</a:t>
            </a:r>
          </a:p>
        </p:txBody>
      </p:sp>
    </p:spTree>
    <p:extLst>
      <p:ext uri="{BB962C8B-B14F-4D97-AF65-F5344CB8AC3E}">
        <p14:creationId xmlns:p14="http://schemas.microsoft.com/office/powerpoint/2010/main" val="1096311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2026-10-05T17:50:45.7260000Z</dcterms:created>
  <dcterms:modified xsi:type="dcterms:W3CDTF">2026-10-05T17:50:45.7260000Z</dcterms:modified>
</coreProperties>
</file>